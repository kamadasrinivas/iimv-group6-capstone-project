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10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65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2560320"/>
          </a:xfrm>
          <a:prstGeom prst="rect">
            <a:avLst/>
          </a:prstGeom>
          <a:solidFill>
            <a:srgbClr val="0A1F35"/>
          </a:solidFill>
          <a:ln w="12700">
            <a:solidFill>
              <a:srgbClr val="0A1F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73152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AAROGYA VAANI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Implementation Plan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Use Case · Tech Stack · 3-Month Delivery  |  Jun – Aug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1828800" cy="804672"/>
          </a:xfrm>
          <a:prstGeom prst="rect">
            <a:avLst/>
          </a:prstGeom>
          <a:solidFill>
            <a:srgbClr val="132F4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03580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343814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Use Case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97480" y="3017520"/>
            <a:ext cx="1828800" cy="804672"/>
          </a:xfrm>
          <a:prstGeom prst="rect">
            <a:avLst/>
          </a:prstGeom>
          <a:solidFill>
            <a:srgbClr val="132F4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303580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697480" y="343814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Components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3017520"/>
            <a:ext cx="1828800" cy="804672"/>
          </a:xfrm>
          <a:prstGeom prst="rect">
            <a:avLst/>
          </a:prstGeom>
          <a:solidFill>
            <a:srgbClr val="132F4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303580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754880" y="343814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to Deliver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12280" y="3017520"/>
            <a:ext cx="1828800" cy="804672"/>
          </a:xfrm>
          <a:prstGeom prst="rect">
            <a:avLst/>
          </a:prstGeom>
          <a:solidFill>
            <a:srgbClr val="132F4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303580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812280" y="343814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CHO Sites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IIM Visakhapatnam  ·  Chief Digital &amp; AI Officer Program  ·  Group 6  · 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8595360" cy="804672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4688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ARE SOLVING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for the MVP scope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2606040" cy="1298448"/>
          </a:xfrm>
          <a:prstGeom prst="rect">
            <a:avLst/>
          </a:prstGeom>
          <a:solidFill>
            <a:srgbClr val="EFF6FF"/>
          </a:solidFill>
          <a:ln w="10160">
            <a:solidFill>
              <a:srgbClr val="CCFB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5331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29844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1:10,000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457200" y="181051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Doctor-patient ratio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rural India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154680" y="1234440"/>
            <a:ext cx="2606040" cy="1298448"/>
          </a:xfrm>
          <a:prstGeom prst="rect">
            <a:avLst/>
          </a:prstGeom>
          <a:solidFill>
            <a:srgbClr val="FFFBEB"/>
          </a:solidFill>
          <a:ln w="10160">
            <a:solidFill>
              <a:srgbClr val="CCFB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35331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49040" y="129844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40–80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3291840" y="181051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 CHO sees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day with no tools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989320" y="1234440"/>
            <a:ext cx="2606040" cy="1298448"/>
          </a:xfrm>
          <a:prstGeom prst="rect">
            <a:avLst/>
          </a:prstGeom>
          <a:solidFill>
            <a:srgbClr val="F0FDFA"/>
          </a:solidFill>
          <a:ln w="10160">
            <a:solidFill>
              <a:srgbClr val="CCFB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135331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83680" y="129844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6126480" y="181051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notes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digitised today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320040" y="2788920"/>
            <a:ext cx="2606040" cy="1993392"/>
          </a:xfrm>
          <a:prstGeom prst="rect">
            <a:avLst/>
          </a:prstGeom>
          <a:solidFill>
            <a:srgbClr val="FFFFFF"/>
          </a:solidFill>
          <a:ln w="10160">
            <a:solidFill>
              <a:srgbClr val="CCFB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2788920"/>
            <a:ext cx="73152" cy="19933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6"/>
          <p:cNvSpPr/>
          <p:nvPr/>
        </p:nvSpPr>
        <p:spPr>
          <a:xfrm>
            <a:off x="502920" y="2852928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Decision Support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02920" y="3218688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 diagnose under crushing cognitive load — no clinical prompts, no guidelines at hand.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3154680" y="2788920"/>
            <a:ext cx="2606040" cy="1993392"/>
          </a:xfrm>
          <a:prstGeom prst="rect">
            <a:avLst/>
          </a:prstGeom>
          <a:solidFill>
            <a:srgbClr val="FFFFFF"/>
          </a:solidFill>
          <a:ln w="10160">
            <a:solidFill>
              <a:srgbClr val="CCFB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154680" y="2788920"/>
            <a:ext cx="73152" cy="19933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0"/>
          <p:cNvSpPr/>
          <p:nvPr/>
        </p:nvSpPr>
        <p:spPr>
          <a:xfrm>
            <a:off x="3337560" y="2852928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Digital Records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3337560" y="3218688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registers mean zero continuity of care when a patient moves between facilities.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5989320" y="2788920"/>
            <a:ext cx="2606040" cy="1993392"/>
          </a:xfrm>
          <a:prstGeom prst="rect">
            <a:avLst/>
          </a:prstGeom>
          <a:solidFill>
            <a:srgbClr val="FFFFFF"/>
          </a:solidFill>
          <a:ln w="10160">
            <a:solidFill>
              <a:srgbClr val="CCFB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5989320" y="2788920"/>
            <a:ext cx="73152" cy="19933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4"/>
          <p:cNvSpPr/>
          <p:nvPr/>
        </p:nvSpPr>
        <p:spPr>
          <a:xfrm>
            <a:off x="6172200" y="2852928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Escalations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172200" y="3218688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clogged with manageable cases while critical referrals get missed entirely.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8595360" cy="804672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4688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MVP USE CASE  —  VOICE-GUIDED TRIAGE FOR FEVER &amp; RESPIRATORY ILLNESS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for high prevalence, clear protocol, and minimum integration complexity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3931920" cy="35661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FB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3258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USE CASE?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" y="1755648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1755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171907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CHO caseload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19019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Fever, cough, breathlessness are the most common presenting complaints — maximum real-world impact.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8912" y="2331720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" y="2331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229514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WHO protocol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247802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IMCI triage for ARI and fever is a well-defined, tested clinical flowchart — no ambiguity to model.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38912" y="2907792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" y="2907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" y="287121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integrations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305409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IoT sensors required for v1. Voice + basic BP manual entry + WhatsApp follow-up is sufficient.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8912" y="3483864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" y="3483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344728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language first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363016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Tamil-only for the pilot in Chennai-region Arogya Mandirs — cuts multilingual complexity by 80%.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38912" y="4059936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38912" y="4059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" y="402336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accuracy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" y="42062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IMCI protocol has clear red-flag criteria — easy to validate AI output against known clinical benchmarks.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480560" y="1234440"/>
            <a:ext cx="4434840" cy="3566160"/>
          </a:xfrm>
          <a:prstGeom prst="rect">
            <a:avLst/>
          </a:prstGeom>
          <a:solidFill>
            <a:srgbClr val="F0FDFA"/>
          </a:solidFill>
          <a:ln w="10160">
            <a:solidFill>
              <a:srgbClr val="CCFB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0" name="Text 28"/>
          <p:cNvSpPr/>
          <p:nvPr/>
        </p:nvSpPr>
        <p:spPr>
          <a:xfrm>
            <a:off x="4663440" y="13258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 — STEP BY STEP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17720" y="1755648"/>
            <a:ext cx="256032" cy="256032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32" name="Text 30"/>
          <p:cNvSpPr/>
          <p:nvPr/>
        </p:nvSpPr>
        <p:spPr>
          <a:xfrm>
            <a:off x="4617720" y="1755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65192" y="171907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arrives at Arogya Mandir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65192" y="1901952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opens Aarogya Vaani app on a basic Android phone/Webapp*.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17720" y="2286000"/>
            <a:ext cx="256032" cy="256032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36" name="Text 34"/>
          <p:cNvSpPr/>
          <p:nvPr/>
        </p:nvSpPr>
        <p:spPr>
          <a:xfrm>
            <a:off x="4617720" y="2286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65192" y="224942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triage begins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65192" y="2432304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speaks to patient in Native Language(English, Hindi): age, symptoms, duration, severity. NLP extracts structured data.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17720" y="2816352"/>
            <a:ext cx="256032" cy="256032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40" name="Text 38"/>
          <p:cNvSpPr/>
          <p:nvPr/>
        </p:nvSpPr>
        <p:spPr>
          <a:xfrm>
            <a:off x="4617720" y="2816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965192" y="277977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vitals entry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65192" y="2962656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enters BP &amp; SpO2 from existing equipment. App flags danger values. </a:t>
            </a:r>
            <a:endParaRPr lang="en-US" sz="850" b="1" dirty="0"/>
          </a:p>
        </p:txBody>
      </p:sp>
      <p:sp>
        <p:nvSpPr>
          <p:cNvPr id="43" name="Shape 41"/>
          <p:cNvSpPr/>
          <p:nvPr/>
        </p:nvSpPr>
        <p:spPr>
          <a:xfrm>
            <a:off x="4617720" y="3346704"/>
            <a:ext cx="256032" cy="256032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44" name="Text 42"/>
          <p:cNvSpPr/>
          <p:nvPr/>
        </p:nvSpPr>
        <p:spPr>
          <a:xfrm>
            <a:off x="4617720" y="3346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965192" y="33101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note generated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965192" y="3493008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produces Subjective-Objective-Assessment-Plan in under 10 seconds. CHO reviews &amp; approves.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617720" y="3877056"/>
            <a:ext cx="256032" cy="256032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48" name="Text 46"/>
          <p:cNvSpPr/>
          <p:nvPr/>
        </p:nvSpPr>
        <p:spPr>
          <a:xfrm>
            <a:off x="4617720" y="38770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965192" y="38404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decision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965192" y="402336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recommends: Treat at home / PHC referral / Emergency.)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Auto-drafts WhatsApp message to family (</a:t>
            </a:r>
            <a:r>
              <a:rPr lang="en-US" sz="850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r>
              <a:rPr lang="en-US" sz="85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Out of scope for MVP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617720" y="4407408"/>
            <a:ext cx="256032" cy="256032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52" name="Text 50"/>
          <p:cNvSpPr/>
          <p:nvPr/>
        </p:nvSpPr>
        <p:spPr>
          <a:xfrm>
            <a:off x="4617720" y="4407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965192" y="43708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Day-3 follow-up (</a:t>
            </a:r>
            <a:r>
              <a:rPr lang="en-US" sz="1000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 of Scope for MVP</a:t>
            </a:r>
            <a:r>
              <a:rPr lang="en-US" sz="10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965192" y="4553712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WhatsApp message checks patient status. Non-response flags back to CHO.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8595360" cy="804672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4688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SCOPE — WHAT'S IN AND WHAT'S OUT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constraints to deliver something real in 13 weeks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4114800" cy="3639312"/>
          </a:xfrm>
          <a:prstGeom prst="rect">
            <a:avLst/>
          </a:prstGeom>
          <a:solidFill>
            <a:srgbClr val="F0FDF9"/>
          </a:solidFill>
          <a:ln w="10160">
            <a:solidFill>
              <a:srgbClr val="CCFB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8" name="Shape 6"/>
          <p:cNvSpPr/>
          <p:nvPr/>
        </p:nvSpPr>
        <p:spPr>
          <a:xfrm>
            <a:off x="320040" y="1207008"/>
            <a:ext cx="4114800" cy="42062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0700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 SCOPE — MVP v1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01368"/>
            <a:ext cx="182880" cy="1828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173736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triage in Tamil (single language)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176272"/>
            <a:ext cx="182880" cy="1828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11226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 + Respiratory illness IMCI protocol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551176"/>
            <a:ext cx="182880" cy="1828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248716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vitals entry (BP + SpO2 + Diabetic + Thermometer)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182880" cy="1828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286207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SOAP note (CHO review + approve)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300984"/>
            <a:ext cx="182880" cy="1828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323697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escalation: Home / PHC / Emergency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675888"/>
            <a:ext cx="182880" cy="1828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61188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follow-up at Day 3 (</a:t>
            </a:r>
            <a:r>
              <a:rPr lang="en-US" sz="95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4050792"/>
            <a:ext cx="182880" cy="1828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398678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web dashboard for CHO (case log) ***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425696"/>
            <a:ext cx="182880" cy="1828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436168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at 2 Arogya Mandirs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1207008"/>
            <a:ext cx="4114800" cy="3639312"/>
          </a:xfrm>
          <a:prstGeom prst="rect">
            <a:avLst/>
          </a:prstGeom>
          <a:solidFill>
            <a:srgbClr val="FFF7F7"/>
          </a:solidFill>
          <a:ln w="10160">
            <a:solidFill>
              <a:srgbClr val="CCFB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1207008"/>
            <a:ext cx="4114800" cy="42062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120700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OUT OF SCOPE — Future Phases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1828800"/>
            <a:ext cx="182880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5102352" y="173736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IoT device auto-sync (Phase 2)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2203704"/>
            <a:ext cx="182880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5102352" y="211226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 — 5 more languages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46320" y="2578608"/>
            <a:ext cx="182880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2"/>
          <p:cNvSpPr/>
          <p:nvPr/>
        </p:nvSpPr>
        <p:spPr>
          <a:xfrm>
            <a:off x="5102352" y="248716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ABHA / National Health Stack integration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46320" y="2953512"/>
            <a:ext cx="182880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6" name="Text 34"/>
          <p:cNvSpPr/>
          <p:nvPr/>
        </p:nvSpPr>
        <p:spPr>
          <a:xfrm>
            <a:off x="5102352" y="286207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Teleconsult slot auto-booking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46320" y="3328416"/>
            <a:ext cx="182880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8" name="Text 36"/>
          <p:cNvSpPr/>
          <p:nvPr/>
        </p:nvSpPr>
        <p:spPr>
          <a:xfrm>
            <a:off x="5102352" y="323697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District-level analytics dashboard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46320" y="3703320"/>
            <a:ext cx="182880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0" name="Text 38"/>
          <p:cNvSpPr/>
          <p:nvPr/>
        </p:nvSpPr>
        <p:spPr>
          <a:xfrm>
            <a:off x="5102352" y="361188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Maternal &amp; child health use cases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46320" y="4078224"/>
            <a:ext cx="182880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2" name="Text 40"/>
          <p:cNvSpPr/>
          <p:nvPr/>
        </p:nvSpPr>
        <p:spPr>
          <a:xfrm>
            <a:off x="5102352" y="398678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Outbreak / epidemic signal detection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46320" y="4453128"/>
            <a:ext cx="182880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4" name="Text 42"/>
          <p:cNvSpPr/>
          <p:nvPr/>
        </p:nvSpPr>
        <p:spPr>
          <a:xfrm>
            <a:off x="5102352" y="436168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FHIR-compliant longitudinal records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8595360" cy="804672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4688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 —  CHOSEN FOR SPEED, OPEN-SOURCE &amp; CHO-GRADE RELIABILITY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 are free/open-source or have generous free tiers — no licensing cost for MVP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4160520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FB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8" name="Shape 6"/>
          <p:cNvSpPr/>
          <p:nvPr/>
        </p:nvSpPr>
        <p:spPr>
          <a:xfrm>
            <a:off x="320040" y="1207008"/>
            <a:ext cx="4160520" cy="329184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20700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CHO App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" y="1682496"/>
            <a:ext cx="91440" cy="91440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" y="1609344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(Expo)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76072" y="1792224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Android/iOS. Single codebase. Expo Go for rapid testing.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29768" y="2112264"/>
            <a:ext cx="91440" cy="91440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" y="2039112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UI via expo-speech + expo-av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76072" y="2221992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 for Tamil prompts; Audio recording for patient responses.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9768" y="2542032"/>
            <a:ext cx="91440" cy="91440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17" name="Text 15"/>
          <p:cNvSpPr/>
          <p:nvPr/>
        </p:nvSpPr>
        <p:spPr>
          <a:xfrm>
            <a:off x="576072" y="246888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with SQLite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76072" y="265176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low-connectivity areas. Syncs when internet is available.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09160" y="1207008"/>
            <a:ext cx="4160520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FB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0" name="Shape 18"/>
          <p:cNvSpPr/>
          <p:nvPr/>
        </p:nvSpPr>
        <p:spPr>
          <a:xfrm>
            <a:off x="4709160" y="1207008"/>
            <a:ext cx="4160520" cy="32918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120700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API &amp; Logic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18888" y="1682496"/>
            <a:ext cx="91440" cy="9144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23" name="Text 21"/>
          <p:cNvSpPr/>
          <p:nvPr/>
        </p:nvSpPr>
        <p:spPr>
          <a:xfrm>
            <a:off x="4965192" y="1609344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65192" y="1792224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REST API. Handles SOAP generation, escalation logic, and case storage.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18888" y="2112264"/>
            <a:ext cx="91440" cy="9144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26" name="Text 24"/>
          <p:cNvSpPr/>
          <p:nvPr/>
        </p:nvSpPr>
        <p:spPr>
          <a:xfrm>
            <a:off x="4965192" y="2039112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65192" y="2221992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records, CHO profiles, triage history. Hosted free on Supabase for MVP.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18888" y="2542032"/>
            <a:ext cx="91440" cy="9144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29" name="Text 27"/>
          <p:cNvSpPr/>
          <p:nvPr/>
        </p:nvSpPr>
        <p:spPr>
          <a:xfrm>
            <a:off x="4965192" y="246888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+ Redis (</a:t>
            </a:r>
            <a:r>
              <a:rPr lang="en-US" sz="950" b="1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r>
              <a:rPr lang="en-US" sz="9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 of scope</a:t>
            </a:r>
            <a:r>
              <a:rPr lang="en-US" sz="95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65192" y="265176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task queue for WhatsApp follow-up scheduling (day 3 triggers).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3054096"/>
            <a:ext cx="4160520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FB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054096"/>
            <a:ext cx="4160520" cy="3291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" y="3054096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NLP — Triage Engine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29768" y="3529584"/>
            <a:ext cx="9144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576072" y="3456432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Whisper (ASR)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76072" y="3639312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speech-to-text. </a:t>
            </a:r>
            <a:r>
              <a:rPr lang="en-US" sz="8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Engish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Hindi language support. Runs on CPU.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29768" y="3959352"/>
            <a:ext cx="9144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576072" y="388620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(via API) / Llama 3 local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76072" y="406908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extraction + SOAP note generation. Fallback: fine-tuned Llama 3 on-device.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29768" y="4389120"/>
            <a:ext cx="9144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576072" y="4315968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IMCI decision tree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76072" y="4498848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clinical workflow. LLM constrained by IMCI rule-based logic for safety.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09160" y="3054096"/>
            <a:ext cx="4160520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FB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09160" y="3054096"/>
            <a:ext cx="4160520" cy="32918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5" name="Text 43"/>
          <p:cNvSpPr/>
          <p:nvPr/>
        </p:nvSpPr>
        <p:spPr>
          <a:xfrm>
            <a:off x="4800600" y="3054096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&amp; INFRA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18888" y="3529584"/>
            <a:ext cx="9144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7" name="Text 45"/>
          <p:cNvSpPr/>
          <p:nvPr/>
        </p:nvSpPr>
        <p:spPr>
          <a:xfrm>
            <a:off x="4965192" y="3456432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 (Twilio) [</a:t>
            </a:r>
            <a:r>
              <a:rPr lang="en-US" sz="950" b="1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r>
              <a:rPr lang="en-US" sz="9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 of scope</a:t>
            </a:r>
            <a:r>
              <a:rPr lang="en-US" sz="95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965192" y="3639312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Day-3 follow-up messages. Free 1000 conversations/month on WhatsApp Cloud API.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818888" y="3959352"/>
            <a:ext cx="9144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0" name="Text 48"/>
          <p:cNvSpPr/>
          <p:nvPr/>
        </p:nvSpPr>
        <p:spPr>
          <a:xfrm>
            <a:off x="4965192" y="388620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Railway / Render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965192" y="406908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Containerised deployment. Free tier sufficient for MVP traffic. CI/CD via GitHub Actions.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818888" y="4389120"/>
            <a:ext cx="9144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3" name="Text 51"/>
          <p:cNvSpPr/>
          <p:nvPr/>
        </p:nvSpPr>
        <p:spPr>
          <a:xfrm>
            <a:off x="4965192" y="4315968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(Auth + Storage)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965192" y="4498848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login, case media storage. Free tier: 500MB DB, 1GB file storage.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8595360" cy="804672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4688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SYSTEM ARCHITECTURE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components connect — data flow for a single triage session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201168"/>
            <a:ext cx="8595360" cy="804672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4688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SYSTEM ARCHITECTURE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62179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components connect — data flow for a single triage session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71600"/>
            <a:ext cx="1920240" cy="822960"/>
          </a:xfrm>
          <a:prstGeom prst="rect">
            <a:avLst/>
          </a:prstGeom>
          <a:solidFill>
            <a:srgbClr val="0F2D4A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3716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Android App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 Native)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1920240" cy="822960"/>
          </a:xfrm>
          <a:prstGeom prst="rect">
            <a:avLst/>
          </a:prstGeom>
          <a:solidFill>
            <a:srgbClr val="0369A1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6060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Engine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(Whisper ASR)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0" y="1828800"/>
            <a:ext cx="1920240" cy="82296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0" y="18288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0" y="3017520"/>
            <a:ext cx="1920240" cy="822960"/>
          </a:xfrm>
          <a:prstGeom prst="rect">
            <a:avLst/>
          </a:prstGeom>
          <a:solidFill>
            <a:srgbClr val="0369A1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0" y="30175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IMCI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Logic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257800" y="1371600"/>
            <a:ext cx="1920240" cy="82296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57800" y="13716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(Supabase)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257800" y="2606040"/>
            <a:ext cx="1920240" cy="82296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257800" y="26060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Note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132320" y="2011680"/>
            <a:ext cx="1719072" cy="822960"/>
          </a:xfrm>
          <a:prstGeom prst="rect">
            <a:avLst/>
          </a:prstGeom>
          <a:solidFill>
            <a:srgbClr val="05966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4" name="Text 22"/>
          <p:cNvSpPr/>
          <p:nvPr/>
        </p:nvSpPr>
        <p:spPr>
          <a:xfrm>
            <a:off x="7132320" y="2011680"/>
            <a:ext cx="17190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(</a:t>
            </a:r>
            <a:r>
              <a:rPr lang="en-US" sz="8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</a:t>
            </a: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132320" y="3200400"/>
            <a:ext cx="1719072" cy="822960"/>
          </a:xfrm>
          <a:prstGeom prst="rect">
            <a:avLst/>
          </a:prstGeom>
          <a:solidFill>
            <a:srgbClr val="0F2D4A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132320" y="3200400"/>
            <a:ext cx="17190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Dashboard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(Web)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286000" y="2212848"/>
            <a:ext cx="457200" cy="27432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3017520"/>
            <a:ext cx="457200" cy="393192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03320" y="2651760"/>
            <a:ext cx="54864" cy="36576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1783080"/>
            <a:ext cx="594360" cy="429768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3017520"/>
            <a:ext cx="594360" cy="54864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0" y="3017520"/>
            <a:ext cx="45720" cy="201168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32320" y="1783080"/>
            <a:ext cx="45720" cy="246888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7033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Voice input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331720" y="37033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Transcribe + extract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743200" y="37033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IMCI logic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257800" y="37033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Store + generate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132320" y="3703320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Notify + log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20040" y="42519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→ CHO app → Voice engine → FastAPI → LLM triage → SOAP note → Escalation → WhatsApp follow-up → Dashboard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8595360" cy="804672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4688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13-WEEK IMPLEMENTATION PLAN  |  1 Jun – 31 Aug 2026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sprints — each with clear team ownership and exit criteria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2743200" cy="3657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FB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07008"/>
            <a:ext cx="2743200" cy="384048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2070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— Foundation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44475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Jun – 28 Jun  (Weeks 1–4)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29768" y="1773936"/>
            <a:ext cx="502920" cy="182880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" y="177393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005840" y="171907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protocol mapping — digitise IMCI fever/ARI decision tree (M5+M6)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29768" y="2249424"/>
            <a:ext cx="502920" cy="182880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" y="224942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005840" y="21945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scaffolding — React Native Expo project, navigation, auth screens (M3+M4)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29768" y="2724912"/>
            <a:ext cx="502920" cy="182880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" y="272491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2–3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005840" y="267004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ASR integration — Tamil STT working on test phrases (M3+M4)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29768" y="3200400"/>
            <a:ext cx="502920" cy="182880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21" name="Text 19"/>
          <p:cNvSpPr/>
          <p:nvPr/>
        </p:nvSpPr>
        <p:spPr>
          <a:xfrm>
            <a:off x="429768" y="32004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3–4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005840" y="314553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+ PostgreSQL schema on Supabase (M7+M1)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29768" y="3675888"/>
            <a:ext cx="502920" cy="182880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24" name="Text 22"/>
          <p:cNvSpPr/>
          <p:nvPr/>
        </p:nvSpPr>
        <p:spPr>
          <a:xfrm>
            <a:off x="429768" y="36758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05840" y="3621024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prompt script writing in Tamil with clinical advisor (M5+M6)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11480" y="4251960"/>
            <a:ext cx="2560320" cy="502920"/>
          </a:xfrm>
          <a:prstGeom prst="rect">
            <a:avLst/>
          </a:prstGeom>
          <a:solidFill>
            <a:srgbClr val="0F2D4A">
              <a:alpha val="15000"/>
            </a:srgbClr>
          </a:solidFill>
          <a:ln w="6350">
            <a:solidFill>
              <a:srgbClr val="0F2D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" y="4270248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✓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48056" y="4416552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app records patient speech → transcribes → returns structured symptom JSON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182112" y="1207008"/>
            <a:ext cx="2743200" cy="3657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FB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82112" y="1207008"/>
            <a:ext cx="2743200" cy="38404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1" name="Text 29"/>
          <p:cNvSpPr/>
          <p:nvPr/>
        </p:nvSpPr>
        <p:spPr>
          <a:xfrm>
            <a:off x="3273552" y="12070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— Build Core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73552" y="144475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Jun – 26 Jul  (Weeks 5–8)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91840" y="1773936"/>
            <a:ext cx="502920" cy="18288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4" name="Text 32"/>
          <p:cNvSpPr/>
          <p:nvPr/>
        </p:nvSpPr>
        <p:spPr>
          <a:xfrm>
            <a:off x="3291840" y="177393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5–6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867912" y="171907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IMCI triage engine — LangChain + GPT-4o with IMCI rules as constraints (M3+M4)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91840" y="2249424"/>
            <a:ext cx="502920" cy="18288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7" name="Text 35"/>
          <p:cNvSpPr/>
          <p:nvPr/>
        </p:nvSpPr>
        <p:spPr>
          <a:xfrm>
            <a:off x="3291840" y="224942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5–6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867912" y="21945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note generator — prompt engineering + CHO approval flow (M3+M4)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91840" y="2724912"/>
            <a:ext cx="502920" cy="18288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40" name="Text 38"/>
          <p:cNvSpPr/>
          <p:nvPr/>
        </p:nvSpPr>
        <p:spPr>
          <a:xfrm>
            <a:off x="3291840" y="272491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6–7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867912" y="267004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vitals entry UI + danger-value alert logic (M5+M6)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91840" y="3200400"/>
            <a:ext cx="502920" cy="18288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43" name="Text 41"/>
          <p:cNvSpPr/>
          <p:nvPr/>
        </p:nvSpPr>
        <p:spPr>
          <a:xfrm>
            <a:off x="3291840" y="32004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7–8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867912" y="314553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output (3-tier) + WhatsApp API integration via Twilio (M7+M1)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291840" y="3675888"/>
            <a:ext cx="502920" cy="18288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46" name="Text 44"/>
          <p:cNvSpPr/>
          <p:nvPr/>
        </p:nvSpPr>
        <p:spPr>
          <a:xfrm>
            <a:off x="3291840" y="36758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867912" y="3621024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integration test — full triage session on staging (All pairs)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273552" y="4251960"/>
            <a:ext cx="2560320" cy="502920"/>
          </a:xfrm>
          <a:prstGeom prst="rect">
            <a:avLst/>
          </a:prstGeom>
          <a:solidFill>
            <a:srgbClr val="0369A1">
              <a:alpha val="15000"/>
            </a:srgbClr>
          </a:solidFill>
          <a:ln w="6350">
            <a:solidFill>
              <a:srgbClr val="0369A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10128" y="4270248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✓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310128" y="4416552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triage session completes in &lt; 5 min. SOAP note generated. Escalation sent.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044184" y="1207008"/>
            <a:ext cx="2743200" cy="3657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FB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044184" y="1207008"/>
            <a:ext cx="274320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3" name="Text 51"/>
          <p:cNvSpPr/>
          <p:nvPr/>
        </p:nvSpPr>
        <p:spPr>
          <a:xfrm>
            <a:off x="6135624" y="12070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— Pilot &amp; Validate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135624" y="144475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Jul – 31 Aug  (Weeks 9–13)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153912" y="1773936"/>
            <a:ext cx="502920" cy="182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6" name="Text 54"/>
          <p:cNvSpPr/>
          <p:nvPr/>
        </p:nvSpPr>
        <p:spPr>
          <a:xfrm>
            <a:off x="6153912" y="177393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6729984" y="171907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onboarding training at 2 Arogya Mandirs (M1+M2, M5+M6)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153912" y="2249424"/>
            <a:ext cx="502920" cy="182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9" name="Text 57"/>
          <p:cNvSpPr/>
          <p:nvPr/>
        </p:nvSpPr>
        <p:spPr>
          <a:xfrm>
            <a:off x="6153912" y="224942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9–10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729984" y="21945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pilot — 20+ real triage sessions per site (All pairs)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153912" y="2724912"/>
            <a:ext cx="502920" cy="182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2" name="Text 60"/>
          <p:cNvSpPr/>
          <p:nvPr/>
        </p:nvSpPr>
        <p:spPr>
          <a:xfrm>
            <a:off x="6153912" y="272491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10–11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6729984" y="267004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validation — AI vs clinical advisor review of SOAP notes (M5+M6)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153912" y="3200400"/>
            <a:ext cx="502920" cy="182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5" name="Text 63"/>
          <p:cNvSpPr/>
          <p:nvPr/>
        </p:nvSpPr>
        <p:spPr>
          <a:xfrm>
            <a:off x="6153912" y="32004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11–12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6729984" y="314553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fixes, CHO feedback incorporation, WhatsApp follow-up check (M3+M4)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153912" y="3675888"/>
            <a:ext cx="502920" cy="182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8" name="Text 66"/>
          <p:cNvSpPr/>
          <p:nvPr/>
        </p:nvSpPr>
        <p:spPr>
          <a:xfrm>
            <a:off x="6153912" y="36758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13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6729984" y="3621024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report, demo video, capstone presentation (M1+M2)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135624" y="4251960"/>
            <a:ext cx="2560320" cy="502920"/>
          </a:xfrm>
          <a:prstGeom prst="rect">
            <a:avLst/>
          </a:prstGeom>
          <a:solidFill>
            <a:srgbClr val="0D9488">
              <a:alpha val="1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72200" y="4270248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✓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6172200" y="4416552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≥85% SOAP accuracy. CHO satisfaction ≥4/5. Pilot data presented.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8595360" cy="804672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4688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OWNERSHIP — WHO BUILDS WHAT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the 4 paired workstreams from the project plan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4160520" cy="1755648"/>
          </a:xfrm>
          <a:prstGeom prst="rect">
            <a:avLst/>
          </a:prstGeom>
          <a:solidFill>
            <a:srgbClr val="FFFFFF"/>
          </a:solidFill>
          <a:ln w="10160">
            <a:solidFill>
              <a:srgbClr val="CCFB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07008"/>
            <a:ext cx="4160520" cy="402336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" y="124358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+ M2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" y="1408176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 &amp; Strategy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48056" y="1764792"/>
            <a:ext cx="128016" cy="128016"/>
          </a:xfrm>
          <a:prstGeom prst="ellipse">
            <a:avLst/>
          </a:prstGeom>
          <a:solidFill>
            <a:srgbClr val="0F2D4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1907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planning, weekly standups, risk log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48056" y="2020824"/>
            <a:ext cx="128016" cy="128016"/>
          </a:xfrm>
          <a:prstGeom prst="ellipse">
            <a:avLst/>
          </a:prstGeom>
          <a:solidFill>
            <a:srgbClr val="0F2D4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97510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onboarding coordination at pilot sites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8056" y="2276856"/>
            <a:ext cx="128016" cy="128016"/>
          </a:xfrm>
          <a:prstGeom prst="ellipse">
            <a:avLst/>
          </a:prstGeom>
          <a:solidFill>
            <a:srgbClr val="0F2D4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23113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capstone report &amp; demo presentation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48056" y="2532888"/>
            <a:ext cx="128016" cy="128016"/>
          </a:xfrm>
          <a:prstGeom prst="ellipse">
            <a:avLst/>
          </a:prstGeom>
          <a:solidFill>
            <a:srgbClr val="0F2D4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48716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communication &amp; milestone sign-off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29768" y="2734056"/>
            <a:ext cx="3931920" cy="164592"/>
          </a:xfrm>
          <a:prstGeom prst="rect">
            <a:avLst/>
          </a:prstGeom>
          <a:solidFill>
            <a:srgbClr val="0F2D4A">
              <a:alpha val="1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" y="2743200"/>
            <a:ext cx="3931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  PM across all sprints  ·  Sprint 3: pilot logistics &amp; delivery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709160" y="1207008"/>
            <a:ext cx="4160520" cy="1755648"/>
          </a:xfrm>
          <a:prstGeom prst="rect">
            <a:avLst/>
          </a:prstGeom>
          <a:solidFill>
            <a:srgbClr val="FFFFFF"/>
          </a:solidFill>
          <a:ln w="10160">
            <a:solidFill>
              <a:srgbClr val="CCFB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1207008"/>
            <a:ext cx="4160520" cy="40233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4818888" y="124358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+ M4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18888" y="1408176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AI/ML, NLP &amp; Voice UX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37176" y="1764792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171907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ASR integration — Tamil speech-to-text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837176" y="2020824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197510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GPT-4o IMCI triage engine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37176" y="2276856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223113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note generator — prompt engineering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37176" y="2532888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248716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voice UI &amp; triage conversation flow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18888" y="2734056"/>
            <a:ext cx="3931920" cy="164592"/>
          </a:xfrm>
          <a:prstGeom prst="rect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37176" y="2743200"/>
            <a:ext cx="3931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  Sprint 1: ASR + app scaffold  ·  Sprint 2: triage engine + SOAP  ·  Sprint 3: accuracy testing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20040" y="3081528"/>
            <a:ext cx="4160520" cy="1755648"/>
          </a:xfrm>
          <a:prstGeom prst="rect">
            <a:avLst/>
          </a:prstGeom>
          <a:solidFill>
            <a:srgbClr val="FFFFFF"/>
          </a:solidFill>
          <a:ln w="10160">
            <a:solidFill>
              <a:srgbClr val="CCFB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3081528"/>
            <a:ext cx="4160520" cy="402336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7" name="Text 35"/>
          <p:cNvSpPr/>
          <p:nvPr/>
        </p:nvSpPr>
        <p:spPr>
          <a:xfrm>
            <a:off x="429768" y="311810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+ M6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29768" y="3282696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Integration &amp; Clinical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8056" y="3639312"/>
            <a:ext cx="128016" cy="128016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359359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IMCI fever/ARI protocol — digitise decision tree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48056" y="3895344"/>
            <a:ext cx="128016" cy="128016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384962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vitals entry UI + danger-value alerts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48056" y="4151376"/>
            <a:ext cx="128016" cy="128016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410565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validation of AI SOAP note output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48056" y="4407408"/>
            <a:ext cx="128016" cy="128016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" y="436168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Hindi/English voice prompt script with clinical accuracy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29768" y="4608576"/>
            <a:ext cx="3931920" cy="164592"/>
          </a:xfrm>
          <a:prstGeom prst="rect">
            <a:avLst/>
          </a:prstGeom>
          <a:solidFill>
            <a:srgbClr val="0369A1">
              <a:alpha val="12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448056" y="4617720"/>
            <a:ext cx="3931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  Sprint 1: protocol mapping  ·  Sprint 2: vitals + alerts  ·  Sprint 3: clinical validation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709160" y="3065853"/>
            <a:ext cx="4160520" cy="1755648"/>
          </a:xfrm>
          <a:prstGeom prst="rect">
            <a:avLst/>
          </a:prstGeom>
          <a:solidFill>
            <a:srgbClr val="FFFFFF"/>
          </a:solidFill>
          <a:ln w="10160">
            <a:solidFill>
              <a:srgbClr val="CCFB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09160" y="3081528"/>
            <a:ext cx="4160520" cy="40233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1" name="Text 49"/>
          <p:cNvSpPr/>
          <p:nvPr/>
        </p:nvSpPr>
        <p:spPr>
          <a:xfrm>
            <a:off x="4818888" y="311810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 + M1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818888" y="3282696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 &amp; Follow-Up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37176" y="3639312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4" name="Text 52"/>
          <p:cNvSpPr/>
          <p:nvPr/>
        </p:nvSpPr>
        <p:spPr>
          <a:xfrm>
            <a:off x="5029200" y="359359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+ PostgreSQL schema (Supabase)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837176" y="3895344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6" name="Text 54"/>
          <p:cNvSpPr/>
          <p:nvPr/>
        </p:nvSpPr>
        <p:spPr>
          <a:xfrm>
            <a:off x="5029200" y="384962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record storage &amp; retrieval API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837176" y="4151376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8" name="Text 56"/>
          <p:cNvSpPr/>
          <p:nvPr/>
        </p:nvSpPr>
        <p:spPr>
          <a:xfrm>
            <a:off x="5029200" y="410565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follow-up workflow — Twilio integration (</a:t>
            </a:r>
            <a:r>
              <a:rPr lang="en-US" sz="85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837176" y="4407408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0" name="Text 58"/>
          <p:cNvSpPr/>
          <p:nvPr/>
        </p:nvSpPr>
        <p:spPr>
          <a:xfrm>
            <a:off x="5029200" y="436168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web dashboard — case log &amp; status view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818888" y="4608576"/>
            <a:ext cx="3931920" cy="164592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4837176" y="4617720"/>
            <a:ext cx="3931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  Sprint 1: DB schema + API  ·  Sprint 2: WhatsApp + dashboard  ·  Sprint 3: data reporting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8595360" cy="804672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4688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 &amp; KEY RISKS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MVP success and what could go wrong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4160520" cy="3639312"/>
          </a:xfrm>
          <a:prstGeom prst="rect">
            <a:avLst/>
          </a:prstGeom>
          <a:solidFill>
            <a:srgbClr val="FFFFFF"/>
          </a:solidFill>
          <a:ln w="10160">
            <a:solidFill>
              <a:srgbClr val="CCFB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2984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SUCCESS METRICS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664208"/>
            <a:ext cx="1783080" cy="868680"/>
          </a:xfrm>
          <a:prstGeom prst="rect">
            <a:avLst/>
          </a:prstGeom>
          <a:solidFill>
            <a:srgbClr val="F0FDFA"/>
          </a:solidFill>
          <a:ln w="10160">
            <a:solidFill>
              <a:srgbClr val="CCFB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171907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≥85%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11480" y="212140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note clinical accuracy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clinical advisor review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331720" y="1664208"/>
            <a:ext cx="1783080" cy="868680"/>
          </a:xfrm>
          <a:prstGeom prst="rect">
            <a:avLst/>
          </a:prstGeom>
          <a:solidFill>
            <a:srgbClr val="F0FDFA"/>
          </a:solidFill>
          <a:ln w="10160">
            <a:solidFill>
              <a:srgbClr val="CCFB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331720" y="171907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 min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331720" y="212140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triage session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per patient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11480" y="2670048"/>
            <a:ext cx="1783080" cy="868680"/>
          </a:xfrm>
          <a:prstGeom prst="rect">
            <a:avLst/>
          </a:prstGeom>
          <a:solidFill>
            <a:srgbClr val="F0FDFA"/>
          </a:solidFill>
          <a:ln w="10160">
            <a:solidFill>
              <a:srgbClr val="CCFB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272491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≥4/5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11480" y="312724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satisfaction score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post-pilot survey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331720" y="2670048"/>
            <a:ext cx="1783080" cy="868680"/>
          </a:xfrm>
          <a:prstGeom prst="rect">
            <a:avLst/>
          </a:prstGeom>
          <a:solidFill>
            <a:srgbClr val="F0FDFA"/>
          </a:solidFill>
          <a:ln w="10160">
            <a:solidFill>
              <a:srgbClr val="CCFB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331720" y="272491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331720" y="312724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triage sessions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at pilot sites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371600" y="3675888"/>
            <a:ext cx="1783080" cy="868680"/>
          </a:xfrm>
          <a:prstGeom prst="rect">
            <a:avLst/>
          </a:prstGeom>
          <a:solidFill>
            <a:srgbClr val="F0FDFA"/>
          </a:solidFill>
          <a:ln w="10160">
            <a:solidFill>
              <a:srgbClr val="CCFB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371600" y="373075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371600" y="413308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message sent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non-responders flagged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09160" y="1207008"/>
            <a:ext cx="4114800" cy="3639312"/>
          </a:xfrm>
          <a:prstGeom prst="rect">
            <a:avLst/>
          </a:prstGeom>
          <a:solidFill>
            <a:srgbClr val="FFFBEB"/>
          </a:solidFill>
          <a:ln w="10160">
            <a:solidFill>
              <a:srgbClr val="CCFB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12984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28032" y="1719072"/>
            <a:ext cx="20116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4828032" y="17190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02352" y="1664208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ASR accuracy in Tamil dialects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02352" y="186537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Pre-test on 5 CHO voices; fine-tune on domain words; add manual correction option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28032" y="2350008"/>
            <a:ext cx="20116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4828032" y="23500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02352" y="229514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API costs for 40+ sessions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102352" y="249631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Cache common IMCI patterns; use Llama 3 local as fallback; budget ₹5k cap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28032" y="2980944"/>
            <a:ext cx="20116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4828032" y="29809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02352" y="292608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reluctance to use a new tool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102352" y="312724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Co-design 2 sessions before pilot; keep UI under 3 taps to any action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28032" y="3611880"/>
            <a:ext cx="20116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4828032" y="36118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02352" y="3557016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approval for business API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102352" y="375818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Apply Week 1; use Twilio sandbox for testing; SMS as backup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828032" y="4242816"/>
            <a:ext cx="20116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4828032" y="42428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02352" y="418795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outage at Arogya Mandir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102352" y="438912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SQLite offline cache; auto-sync when connected; no data lost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369A1">
              <a:alpha val="12000"/>
            </a:srgbClr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731520"/>
            <a:ext cx="73152" cy="3840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7498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IN THREE SENTENCES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voice-first Hindi/English triage app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fever and respiratory illness.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 live with real CHOs at 2 Arogya Mandirs.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≥85% clinical accuracy. Then scale.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1828800" cy="868680"/>
          </a:xfrm>
          <a:prstGeom prst="rect">
            <a:avLst/>
          </a:prstGeom>
          <a:solidFill>
            <a:srgbClr val="0A1F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3192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Jun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97480" y="3291840"/>
            <a:ext cx="1828800" cy="868680"/>
          </a:xfrm>
          <a:prstGeom prst="rect">
            <a:avLst/>
          </a:prstGeom>
          <a:solidFill>
            <a:srgbClr val="0A1F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33192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Wks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9748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3291840"/>
            <a:ext cx="1828800" cy="868680"/>
          </a:xfrm>
          <a:prstGeom prst="rect">
            <a:avLst/>
          </a:prstGeom>
          <a:solidFill>
            <a:srgbClr val="0A1F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3192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HINDI/ENGLISH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5488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v1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12280" y="3291840"/>
            <a:ext cx="1828800" cy="868680"/>
          </a:xfrm>
          <a:prstGeom prst="rect">
            <a:avLst/>
          </a:prstGeom>
          <a:solidFill>
            <a:srgbClr val="0A1F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33192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Aug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1228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IIM Visakhapatnam  ·  Chief Digital &amp; AI Officer Program  ·  Group 6  · 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1796</Words>
  <Application>Microsoft Office PowerPoint</Application>
  <PresentationFormat>On-screen Show (16:9)</PresentationFormat>
  <Paragraphs>275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Aarogya Vaani – MVP Plan</dc:title>
  <dc:subject>PptxGenJS Presentation</dc:subject>
  <dc:creator>PptxGenJS</dc:creator>
  <cp:lastModifiedBy>kamada srinivas</cp:lastModifiedBy>
  <cp:revision>2</cp:revision>
  <dcterms:created xsi:type="dcterms:W3CDTF">2026-06-06T10:26:20Z</dcterms:created>
  <dcterms:modified xsi:type="dcterms:W3CDTF">2026-06-06T11:09:49Z</dcterms:modified>
</cp:coreProperties>
</file>